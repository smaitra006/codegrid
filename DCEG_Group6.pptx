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54A402-E736-4659-899A-ED0BAB18AA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9E7D25-A0C1-4283-92BB-44B37640DC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9BC40E-3E87-4F31-8122-0F28B1FE36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3872BE-C7E3-4806-AC52-577B36F1B5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B7A02E-DF66-48F2-AAFF-1FB5B661B7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677496-15B6-4201-A90B-5D7D845477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A519E6-3261-40F4-9953-9DCC99B346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6AE0DE-9DF4-438B-91B2-0F5EFE157A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22264A-7D36-4EE4-BA11-CD8EFBBC7B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12F0B2-2E2B-4AA1-A0C0-ECF76F9658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D97732-39E5-4E70-AC47-36F37DA8DC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0" y="2560320"/>
            <a:ext cx="121914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GROUP 6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0" y="402336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DISTRIBUTED CODE EXECUTION GRID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fade thruBlk="true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0" y="109800"/>
            <a:ext cx="12191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PROBLEM  vs  THE SOLUTION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0" y="685800"/>
            <a:ext cx="1219140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Resource Fragmentation  —  </a:t>
            </a: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Before &amp; After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4"/>
          <p:cNvSpPr/>
          <p:nvPr/>
        </p:nvSpPr>
        <p:spPr>
          <a:xfrm>
            <a:off x="274320" y="1143000"/>
            <a:ext cx="5394600" cy="5303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2540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274320" y="1234440"/>
            <a:ext cx="53946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✗  WITHOUT THE GRID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457200" y="178308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9999"/>
                </a:solidFill>
                <a:effectLst/>
                <a:uFillTx/>
                <a:latin typeface="Calibri"/>
              </a:rPr>
              <a:t>✗  CPU pinned at 100% on local machine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7"/>
          <p:cNvSpPr/>
          <p:nvPr/>
        </p:nvSpPr>
        <p:spPr>
          <a:xfrm>
            <a:off x="457200" y="228600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9999"/>
                </a:solidFill>
                <a:effectLst/>
                <a:uFillTx/>
                <a:latin typeface="Calibri"/>
              </a:rPr>
              <a:t>✗  Desktop freezes on heavy tasks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457200" y="278892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9999"/>
                </a:solidFill>
                <a:effectLst/>
                <a:uFillTx/>
                <a:latin typeface="Calibri"/>
              </a:rPr>
              <a:t>✗  Fans spin up — user waits minutes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457200" y="329184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9999"/>
                </a:solidFill>
                <a:effectLst/>
                <a:uFillTx/>
                <a:latin typeface="Calibri"/>
              </a:rPr>
              <a:t>✗  30 lab machines sit completely IDLE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457200" y="3794760"/>
            <a:ext cx="5028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9999"/>
                </a:solidFill>
                <a:effectLst/>
                <a:uFillTx/>
                <a:latin typeface="Calibri"/>
              </a:rPr>
              <a:t>✗  All compute locked in ONE node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1"/>
          <p:cNvSpPr/>
          <p:nvPr/>
        </p:nvSpPr>
        <p:spPr>
          <a:xfrm>
            <a:off x="6492240" y="1143000"/>
            <a:ext cx="5394600" cy="5303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254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2"/>
          <p:cNvSpPr/>
          <p:nvPr/>
        </p:nvSpPr>
        <p:spPr>
          <a:xfrm>
            <a:off x="6492240" y="1234440"/>
            <a:ext cx="53946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  WITH THE GRID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3"/>
          <p:cNvSpPr/>
          <p:nvPr/>
        </p:nvSpPr>
        <p:spPr>
          <a:xfrm>
            <a:off x="6675120" y="178308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e7b7"/>
                </a:solidFill>
                <a:effectLst/>
                <a:uFillTx/>
                <a:latin typeface="Calibri"/>
              </a:rPr>
              <a:t>✓  Code offloaded to idle LAN machines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4"/>
          <p:cNvSpPr/>
          <p:nvPr/>
        </p:nvSpPr>
        <p:spPr>
          <a:xfrm>
            <a:off x="6675120" y="228600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e7b7"/>
                </a:solidFill>
                <a:effectLst/>
                <a:uFillTx/>
                <a:latin typeface="Calibri"/>
              </a:rPr>
              <a:t>✓  Local machine stays free &amp; responsive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5"/>
          <p:cNvSpPr/>
          <p:nvPr/>
        </p:nvSpPr>
        <p:spPr>
          <a:xfrm>
            <a:off x="6675120" y="278892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e7b7"/>
                </a:solidFill>
                <a:effectLst/>
                <a:uFillTx/>
                <a:latin typeface="Calibri"/>
              </a:rPr>
              <a:t>✓  Dynamic routing to least-loaded node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6"/>
          <p:cNvSpPr/>
          <p:nvPr/>
        </p:nvSpPr>
        <p:spPr>
          <a:xfrm>
            <a:off x="6675120" y="329184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e7b7"/>
                </a:solidFill>
                <a:effectLst/>
                <a:uFillTx/>
                <a:latin typeface="Calibri"/>
              </a:rPr>
              <a:t>✓  Scales from 2 to 100+ worker nodes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7"/>
          <p:cNvSpPr/>
          <p:nvPr/>
        </p:nvSpPr>
        <p:spPr>
          <a:xfrm>
            <a:off x="6675120" y="3794760"/>
            <a:ext cx="5028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e7b7"/>
                </a:solidFill>
                <a:effectLst/>
                <a:uFillTx/>
                <a:latin typeface="Calibri"/>
              </a:rPr>
              <a:t>✓  Compilation local, execution remote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18" descr="dceg_cpu_compare.png"/>
          <p:cNvPicPr/>
          <p:nvPr/>
        </p:nvPicPr>
        <p:blipFill>
          <a:blip r:embed="rId1"/>
          <a:stretch/>
        </p:blipFill>
        <p:spPr>
          <a:xfrm>
            <a:off x="274320" y="3840480"/>
            <a:ext cx="11429640" cy="246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Box 19"/>
          <p:cNvSpPr/>
          <p:nvPr/>
        </p:nvSpPr>
        <p:spPr>
          <a:xfrm>
            <a:off x="10515600" y="91440"/>
            <a:ext cx="1554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0"/>
          <p:cNvSpPr/>
          <p:nvPr/>
        </p:nvSpPr>
        <p:spPr>
          <a:xfrm>
            <a:off x="182880" y="6537960"/>
            <a:ext cx="118868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Problem vs Solution  ·  Group 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ounded Rectangle 2"/>
          <p:cNvSpPr/>
          <p:nvPr/>
        </p:nvSpPr>
        <p:spPr>
          <a:xfrm>
            <a:off x="457200" y="731520"/>
            <a:ext cx="11246760" cy="2559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0" y="960120"/>
            <a:ext cx="12191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DISTRIBUTED CODE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0" y="1828800"/>
            <a:ext cx="12191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EXECUTION GRID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0" y="285372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Treating a LAN as a Single Supercomputer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6"/>
          <p:cNvSpPr/>
          <p:nvPr/>
        </p:nvSpPr>
        <p:spPr>
          <a:xfrm>
            <a:off x="1371600" y="3458160"/>
            <a:ext cx="9417960" cy="27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ounded Rectangle 7"/>
          <p:cNvSpPr/>
          <p:nvPr/>
        </p:nvSpPr>
        <p:spPr>
          <a:xfrm>
            <a:off x="548640" y="3840480"/>
            <a:ext cx="169128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8"/>
          <p:cNvSpPr/>
          <p:nvPr/>
        </p:nvSpPr>
        <p:spPr>
          <a:xfrm>
            <a:off x="548640" y="3948480"/>
            <a:ext cx="1691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C Language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9"/>
          <p:cNvSpPr/>
          <p:nvPr/>
        </p:nvSpPr>
        <p:spPr>
          <a:xfrm>
            <a:off x="2450520" y="3840480"/>
            <a:ext cx="169128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2450520" y="3948480"/>
            <a:ext cx="1691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POSIX Threads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1"/>
          <p:cNvSpPr/>
          <p:nvPr/>
        </p:nvSpPr>
        <p:spPr>
          <a:xfrm>
            <a:off x="4352400" y="3840480"/>
            <a:ext cx="169128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2"/>
          <p:cNvSpPr/>
          <p:nvPr/>
        </p:nvSpPr>
        <p:spPr>
          <a:xfrm>
            <a:off x="4352400" y="3948480"/>
            <a:ext cx="1691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TCP Sockets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3"/>
          <p:cNvSpPr/>
          <p:nvPr/>
        </p:nvSpPr>
        <p:spPr>
          <a:xfrm>
            <a:off x="6254640" y="3840480"/>
            <a:ext cx="169128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6254640" y="394848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Linux /proc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5"/>
          <p:cNvSpPr/>
          <p:nvPr/>
        </p:nvSpPr>
        <p:spPr>
          <a:xfrm>
            <a:off x="8156520" y="3840480"/>
            <a:ext cx="169128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c51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16"/>
          <p:cNvSpPr/>
          <p:nvPr/>
        </p:nvSpPr>
        <p:spPr>
          <a:xfrm>
            <a:off x="8156520" y="394848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GCC -O2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7"/>
          <p:cNvSpPr/>
          <p:nvPr/>
        </p:nvSpPr>
        <p:spPr>
          <a:xfrm>
            <a:off x="10058400" y="3840480"/>
            <a:ext cx="169128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c48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18"/>
          <p:cNvSpPr/>
          <p:nvPr/>
        </p:nvSpPr>
        <p:spPr>
          <a:xfrm>
            <a:off x="10058400" y="391248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Makefile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Oval 19"/>
          <p:cNvSpPr/>
          <p:nvPr/>
        </p:nvSpPr>
        <p:spPr>
          <a:xfrm>
            <a:off x="274320" y="4663440"/>
            <a:ext cx="1371240" cy="10969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0"/>
          <p:cNvSpPr/>
          <p:nvPr/>
        </p:nvSpPr>
        <p:spPr>
          <a:xfrm>
            <a:off x="469800" y="4830840"/>
            <a:ext cx="1371240" cy="6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Machine 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sender.c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Oval 21"/>
          <p:cNvSpPr/>
          <p:nvPr/>
        </p:nvSpPr>
        <p:spPr>
          <a:xfrm>
            <a:off x="4937760" y="4663440"/>
            <a:ext cx="2285640" cy="10969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2"/>
          <p:cNvSpPr/>
          <p:nvPr/>
        </p:nvSpPr>
        <p:spPr>
          <a:xfrm>
            <a:off x="5258160" y="4908600"/>
            <a:ext cx="22856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6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Server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server.c | Route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Oval 23"/>
          <p:cNvSpPr/>
          <p:nvPr/>
        </p:nvSpPr>
        <p:spPr>
          <a:xfrm>
            <a:off x="10515600" y="4663440"/>
            <a:ext cx="1371240" cy="10969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4"/>
          <p:cNvSpPr/>
          <p:nvPr/>
        </p:nvSpPr>
        <p:spPr>
          <a:xfrm>
            <a:off x="10731600" y="4987440"/>
            <a:ext cx="1371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Machine B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client.c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or 25"/>
          <p:cNvCxnSpPr/>
          <p:nvPr/>
        </p:nvCxnSpPr>
        <p:spPr>
          <a:xfrm>
            <a:off x="1645920" y="5212080"/>
            <a:ext cx="3292200" cy="360"/>
          </a:xfrm>
          <a:prstGeom prst="straightConnector1">
            <a:avLst/>
          </a:prstGeom>
          <a:ln w="31750">
            <a:solidFill>
              <a:srgbClr val="f97316"/>
            </a:solidFill>
            <a:round/>
          </a:ln>
        </p:spPr>
      </p:cxnSp>
      <p:cxnSp>
        <p:nvCxnSpPr>
          <p:cNvPr id="108" name="Connector 26"/>
          <p:cNvCxnSpPr/>
          <p:nvPr/>
        </p:nvCxnSpPr>
        <p:spPr>
          <a:xfrm>
            <a:off x="7223760" y="5212080"/>
            <a:ext cx="3292200" cy="360"/>
          </a:xfrm>
          <a:prstGeom prst="straightConnector1">
            <a:avLst/>
          </a:prstGeom>
          <a:ln w="31750">
            <a:solidFill>
              <a:srgbClr val="10b981"/>
            </a:solidFill>
            <a:round/>
          </a:ln>
        </p:spPr>
      </p:cxnSp>
      <p:sp>
        <p:nvSpPr>
          <p:cNvPr id="109" name="TextBox 27"/>
          <p:cNvSpPr/>
          <p:nvPr/>
        </p:nvSpPr>
        <p:spPr>
          <a:xfrm>
            <a:off x="2296800" y="4901760"/>
            <a:ext cx="2925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TCP binary payload →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8"/>
          <p:cNvSpPr/>
          <p:nvPr/>
        </p:nvSpPr>
        <p:spPr>
          <a:xfrm>
            <a:off x="7910640" y="4901760"/>
            <a:ext cx="2925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→ TCP stdout/stderr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9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0"/>
          <p:cNvSpPr/>
          <p:nvPr/>
        </p:nvSpPr>
        <p:spPr>
          <a:xfrm>
            <a:off x="182880" y="6537960"/>
            <a:ext cx="1188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Distributed Code Execution Grid  ·  Group 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0" y="10980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SYSTEM ARCHITECTURE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0" y="68580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3-Tier Master-Worker  |  LAN Star Topology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4"/>
          <p:cNvSpPr/>
          <p:nvPr/>
        </p:nvSpPr>
        <p:spPr>
          <a:xfrm>
            <a:off x="274320" y="1188720"/>
            <a:ext cx="3017160" cy="43887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2540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274320" y="12801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MACHINE 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365760" y="178308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sender.c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457200" y="224028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Validate .c source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457200" y="265176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</a:t>
            </a: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 Compile with GCC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457200" y="306324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Heap-buffer binary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457200" y="347472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Serialize &amp; send TCP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1"/>
          <p:cNvSpPr/>
          <p:nvPr/>
        </p:nvSpPr>
        <p:spPr>
          <a:xfrm>
            <a:off x="457200" y="388620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</a:t>
            </a: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ANSI progress UI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2"/>
          <p:cNvSpPr/>
          <p:nvPr/>
        </p:nvSpPr>
        <p:spPr>
          <a:xfrm>
            <a:off x="4572000" y="1188720"/>
            <a:ext cx="3017160" cy="4388760"/>
          </a:xfrm>
          <a:prstGeom prst="roundRect">
            <a:avLst>
              <a:gd name="adj" fmla="val 5000"/>
            </a:avLst>
          </a:prstGeom>
          <a:solidFill>
            <a:srgbClr val="1a0a30"/>
          </a:solidFill>
          <a:ln w="2540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3"/>
          <p:cNvSpPr/>
          <p:nvPr/>
        </p:nvSpPr>
        <p:spPr>
          <a:xfrm>
            <a:off x="4572000" y="12801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SERVER / COORDINATOR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4"/>
          <p:cNvSpPr/>
          <p:nvPr/>
        </p:nvSpPr>
        <p:spPr>
          <a:xfrm>
            <a:off x="4663440" y="1783080"/>
            <a:ext cx="2834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node.c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5"/>
          <p:cNvSpPr/>
          <p:nvPr/>
        </p:nvSpPr>
        <p:spPr>
          <a:xfrm>
            <a:off x="4663440" y="2240280"/>
            <a:ext cx="2834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Accept all connections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6"/>
          <p:cNvSpPr/>
          <p:nvPr/>
        </p:nvSpPr>
        <p:spPr>
          <a:xfrm>
            <a:off x="4663440" y="2651760"/>
            <a:ext cx="2834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pthread per client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7"/>
          <p:cNvSpPr/>
          <p:nvPr/>
        </p:nvSpPr>
        <p:spPr>
          <a:xfrm>
            <a:off x="4663440" y="3063240"/>
            <a:ext cx="2834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Read CPU telemetry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8"/>
          <p:cNvSpPr/>
          <p:nvPr/>
        </p:nvSpPr>
        <p:spPr>
          <a:xfrm>
            <a:off x="4663440" y="3474720"/>
            <a:ext cx="2834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least_loaded_worker()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9"/>
          <p:cNvSpPr/>
          <p:nvPr/>
        </p:nvSpPr>
        <p:spPr>
          <a:xfrm>
            <a:off x="4663440" y="3886200"/>
            <a:ext cx="2834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Route job to best node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20"/>
          <p:cNvSpPr/>
          <p:nvPr/>
        </p:nvSpPr>
        <p:spPr>
          <a:xfrm>
            <a:off x="8869680" y="1188720"/>
            <a:ext cx="3017160" cy="4388760"/>
          </a:xfrm>
          <a:prstGeom prst="roundRect">
            <a:avLst>
              <a:gd name="adj" fmla="val 5000"/>
            </a:avLst>
          </a:prstGeom>
          <a:solidFill>
            <a:srgbClr val="061a0f"/>
          </a:solidFill>
          <a:ln w="254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1"/>
          <p:cNvSpPr/>
          <p:nvPr/>
        </p:nvSpPr>
        <p:spPr>
          <a:xfrm>
            <a:off x="8869680" y="12801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MACHINE B  ×  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2"/>
          <p:cNvSpPr/>
          <p:nvPr/>
        </p:nvSpPr>
        <p:spPr>
          <a:xfrm>
            <a:off x="8961120" y="1783080"/>
            <a:ext cx="2834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node.c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3"/>
          <p:cNvSpPr/>
          <p:nvPr/>
        </p:nvSpPr>
        <p:spPr>
          <a:xfrm>
            <a:off x="8961120" y="224028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Stream CPU /proc/stat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4"/>
          <p:cNvSpPr/>
          <p:nvPr/>
        </p:nvSpPr>
        <p:spPr>
          <a:xfrm>
            <a:off x="8961120" y="265176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Receive binary TCP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5"/>
          <p:cNvSpPr/>
          <p:nvPr/>
        </p:nvSpPr>
        <p:spPr>
          <a:xfrm>
            <a:off x="8961120" y="306324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Write /tmp/&lt;PID&gt;.out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6"/>
          <p:cNvSpPr/>
          <p:nvPr/>
        </p:nvSpPr>
        <p:spPr>
          <a:xfrm>
            <a:off x="8961120" y="347472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Execute via popen()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7"/>
          <p:cNvSpPr/>
          <p:nvPr/>
        </p:nvSpPr>
        <p:spPr>
          <a:xfrm>
            <a:off x="8961120" y="388620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• Return stdout/stderr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Connector 28"/>
          <p:cNvCxnSpPr/>
          <p:nvPr/>
        </p:nvCxnSpPr>
        <p:spPr>
          <a:xfrm>
            <a:off x="3291840" y="3383280"/>
            <a:ext cx="1280520" cy="360"/>
          </a:xfrm>
          <a:prstGeom prst="straightConnector1">
            <a:avLst/>
          </a:prstGeom>
          <a:ln w="38100">
            <a:solidFill>
              <a:srgbClr val="f97316"/>
            </a:solidFill>
            <a:round/>
          </a:ln>
        </p:spPr>
      </p:cxnSp>
      <p:sp>
        <p:nvSpPr>
          <p:cNvPr id="141" name="TextBox 29"/>
          <p:cNvSpPr/>
          <p:nvPr/>
        </p:nvSpPr>
        <p:spPr>
          <a:xfrm>
            <a:off x="3318120" y="3106080"/>
            <a:ext cx="1371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binary payload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2" name="Connector 30"/>
          <p:cNvCxnSpPr/>
          <p:nvPr/>
        </p:nvCxnSpPr>
        <p:spPr>
          <a:xfrm flipH="1">
            <a:off x="3291840" y="3748680"/>
            <a:ext cx="1280520" cy="360"/>
          </a:xfrm>
          <a:prstGeom prst="straightConnector1">
            <a:avLst/>
          </a:prstGeom>
          <a:ln>
            <a:solidFill>
              <a:srgbClr val="10b981"/>
            </a:solidFill>
            <a:round/>
          </a:ln>
        </p:spPr>
      </p:cxnSp>
      <p:sp>
        <p:nvSpPr>
          <p:cNvPr id="143" name="TextBox 31"/>
          <p:cNvSpPr/>
          <p:nvPr/>
        </p:nvSpPr>
        <p:spPr>
          <a:xfrm>
            <a:off x="3661560" y="3722760"/>
            <a:ext cx="1096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result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4" name="Connector 32"/>
          <p:cNvCxnSpPr/>
          <p:nvPr/>
        </p:nvCxnSpPr>
        <p:spPr>
          <a:xfrm>
            <a:off x="7589520" y="3383280"/>
            <a:ext cx="1280520" cy="360"/>
          </a:xfrm>
          <a:prstGeom prst="straightConnector1">
            <a:avLst/>
          </a:prstGeom>
          <a:ln w="38100">
            <a:solidFill>
              <a:srgbClr val="00b4ff"/>
            </a:solidFill>
            <a:round/>
          </a:ln>
        </p:spPr>
      </p:cxnSp>
      <p:sp>
        <p:nvSpPr>
          <p:cNvPr id="145" name="TextBox 33"/>
          <p:cNvSpPr/>
          <p:nvPr/>
        </p:nvSpPr>
        <p:spPr>
          <a:xfrm>
            <a:off x="7779240" y="310608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route job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6" name="Connector 34"/>
          <p:cNvCxnSpPr/>
          <p:nvPr/>
        </p:nvCxnSpPr>
        <p:spPr>
          <a:xfrm flipH="1">
            <a:off x="7589520" y="3748680"/>
            <a:ext cx="1280520" cy="360"/>
          </a:xfrm>
          <a:prstGeom prst="straightConnector1">
            <a:avLst/>
          </a:prstGeom>
          <a:ln>
            <a:solidFill>
              <a:srgbClr val="7c3aed"/>
            </a:solidFill>
            <a:round/>
          </a:ln>
        </p:spPr>
      </p:cxnSp>
      <p:sp>
        <p:nvSpPr>
          <p:cNvPr id="147" name="TextBox 35"/>
          <p:cNvSpPr/>
          <p:nvPr/>
        </p:nvSpPr>
        <p:spPr>
          <a:xfrm>
            <a:off x="7635240" y="379476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stdout/stderr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6"/>
          <p:cNvSpPr/>
          <p:nvPr/>
        </p:nvSpPr>
        <p:spPr>
          <a:xfrm>
            <a:off x="3657600" y="5760720"/>
            <a:ext cx="4845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⟲ Real-time CPU telemetry every 1s via /proc/stat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37"/>
          <p:cNvSpPr/>
          <p:nvPr/>
        </p:nvSpPr>
        <p:spPr>
          <a:xfrm>
            <a:off x="274320" y="6217920"/>
            <a:ext cx="1161252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a0ae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38"/>
          <p:cNvSpPr/>
          <p:nvPr/>
        </p:nvSpPr>
        <p:spPr>
          <a:xfrm>
            <a:off x="274320" y="6289920"/>
            <a:ext cx="11612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Machine A  →  Server  →  Machine B  |  All over LAN TCP Sockets  |  Star Topology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9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0" y="1098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NETWORK TOPOLOGY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0" y="68580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LAN Star Topology  —  Treating a LAN as a Supercomputer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5" name="Picture 4" descr="dceg_topology.png"/>
          <p:cNvPicPr/>
          <p:nvPr/>
        </p:nvPicPr>
        <p:blipFill>
          <a:blip r:embed="rId1"/>
          <a:stretch/>
        </p:blipFill>
        <p:spPr>
          <a:xfrm>
            <a:off x="228960" y="977040"/>
            <a:ext cx="5943240" cy="566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Rounded Rectangle 5"/>
          <p:cNvSpPr/>
          <p:nvPr/>
        </p:nvSpPr>
        <p:spPr>
          <a:xfrm>
            <a:off x="6583680" y="1097280"/>
            <a:ext cx="5303160" cy="5028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0160">
            <a:solidFill>
              <a:srgbClr val="a0ae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6858000" y="123444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TOPOLOGY FACTS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Oval 7"/>
          <p:cNvSpPr/>
          <p:nvPr/>
        </p:nvSpPr>
        <p:spPr>
          <a:xfrm>
            <a:off x="6858000" y="1828800"/>
            <a:ext cx="347040" cy="347040"/>
          </a:xfrm>
          <a:prstGeom prst="ellipse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8"/>
          <p:cNvSpPr/>
          <p:nvPr/>
        </p:nvSpPr>
        <p:spPr>
          <a:xfrm>
            <a:off x="7360920" y="1847160"/>
            <a:ext cx="4297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Machine A: Sender / Compiler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Oval 9"/>
          <p:cNvSpPr/>
          <p:nvPr/>
        </p:nvSpPr>
        <p:spPr>
          <a:xfrm>
            <a:off x="6858000" y="2578680"/>
            <a:ext cx="347040" cy="3470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7360920" y="2597040"/>
            <a:ext cx="4297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node.c: Central Hub / Router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Oval 11"/>
          <p:cNvSpPr/>
          <p:nvPr/>
        </p:nvSpPr>
        <p:spPr>
          <a:xfrm>
            <a:off x="6858000" y="3328560"/>
            <a:ext cx="347040" cy="347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2"/>
          <p:cNvSpPr/>
          <p:nvPr/>
        </p:nvSpPr>
        <p:spPr>
          <a:xfrm>
            <a:off x="7360920" y="3346560"/>
            <a:ext cx="4297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node.c: Machine B×N: Worker Nodes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Oval 13"/>
          <p:cNvSpPr/>
          <p:nvPr/>
        </p:nvSpPr>
        <p:spPr>
          <a:xfrm>
            <a:off x="6858000" y="4078080"/>
            <a:ext cx="347040" cy="34704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4"/>
          <p:cNvSpPr/>
          <p:nvPr/>
        </p:nvSpPr>
        <p:spPr>
          <a:xfrm>
            <a:off x="7360920" y="4096440"/>
            <a:ext cx="4297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TCP Sockets: All communication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Oval 15"/>
          <p:cNvSpPr/>
          <p:nvPr/>
        </p:nvSpPr>
        <p:spPr>
          <a:xfrm>
            <a:off x="6858000" y="4827960"/>
            <a:ext cx="347040" cy="347040"/>
          </a:xfrm>
          <a:prstGeom prst="ellipse">
            <a:avLst/>
          </a:prstGeom>
          <a:solidFill>
            <a:srgbClr val="f5c5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6"/>
          <p:cNvSpPr/>
          <p:nvPr/>
        </p:nvSpPr>
        <p:spPr>
          <a:xfrm>
            <a:off x="7360920" y="4846320"/>
            <a:ext cx="4297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Centralized star — not P2P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7"/>
          <p:cNvSpPr/>
          <p:nvPr/>
        </p:nvSpPr>
        <p:spPr>
          <a:xfrm>
            <a:off x="6858000" y="557784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📡  Scales 2  →  100+ Nodes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8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9"/>
          <p:cNvSpPr/>
          <p:nvPr/>
        </p:nvSpPr>
        <p:spPr>
          <a:xfrm>
            <a:off x="182880" y="6537960"/>
            <a:ext cx="1188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Network Topology  ·  Group 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0" y="10980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CUSTOM BINARY NETWORK PROTOCOL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0" y="68580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common.h  |  Message Framing  |  Robust I/O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Picture 4" descr="dceg_protocol.png"/>
          <p:cNvPicPr/>
          <p:nvPr/>
        </p:nvPicPr>
        <p:blipFill>
          <a:blip r:embed="rId1"/>
          <a:stretch/>
        </p:blipFill>
        <p:spPr>
          <a:xfrm>
            <a:off x="182880" y="1005840"/>
            <a:ext cx="1179540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Rounded Rectangle 5"/>
          <p:cNvSpPr/>
          <p:nvPr/>
        </p:nvSpPr>
        <p:spPr>
          <a:xfrm>
            <a:off x="365760" y="3474720"/>
            <a:ext cx="2651400" cy="3017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Oval 6"/>
          <p:cNvSpPr/>
          <p:nvPr/>
        </p:nvSpPr>
        <p:spPr>
          <a:xfrm>
            <a:off x="1371600" y="3566160"/>
            <a:ext cx="639720" cy="639720"/>
          </a:xfrm>
          <a:prstGeom prst="ellipse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365760" y="4206240"/>
            <a:ext cx="2651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Message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Framing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457200" y="4983480"/>
            <a:ext cx="24685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Prefixes every msg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with payload_len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No split/merge bugs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9"/>
          <p:cNvSpPr/>
          <p:nvPr/>
        </p:nvSpPr>
        <p:spPr>
          <a:xfrm>
            <a:off x="3291840" y="3474720"/>
            <a:ext cx="2651400" cy="3017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Oval 10"/>
          <p:cNvSpPr/>
          <p:nvPr/>
        </p:nvSpPr>
        <p:spPr>
          <a:xfrm>
            <a:off x="4297680" y="3566160"/>
            <a:ext cx="639720" cy="63972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1"/>
          <p:cNvSpPr/>
          <p:nvPr/>
        </p:nvSpPr>
        <p:spPr>
          <a:xfrm>
            <a:off x="3291840" y="4206240"/>
            <a:ext cx="2651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#pragma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pack(1)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2"/>
          <p:cNvSpPr/>
          <p:nvPr/>
        </p:nvSpPr>
        <p:spPr>
          <a:xfrm>
            <a:off x="3383280" y="4983480"/>
            <a:ext cx="24685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Eliminates padding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ARM vs x86_64 safe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exactly 5 bytes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3"/>
          <p:cNvSpPr/>
          <p:nvPr/>
        </p:nvSpPr>
        <p:spPr>
          <a:xfrm>
            <a:off x="6217920" y="3474720"/>
            <a:ext cx="2651400" cy="3017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Oval 14"/>
          <p:cNvSpPr/>
          <p:nvPr/>
        </p:nvSpPr>
        <p:spPr>
          <a:xfrm>
            <a:off x="7223760" y="3566160"/>
            <a:ext cx="639720" cy="63972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15"/>
          <p:cNvSpPr/>
          <p:nvPr/>
        </p:nvSpPr>
        <p:spPr>
          <a:xfrm>
            <a:off x="6217920" y="4206240"/>
            <a:ext cx="2651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Robust I/O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Wrappers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6"/>
          <p:cNvSpPr/>
          <p:nvPr/>
        </p:nvSpPr>
        <p:spPr>
          <a:xfrm>
            <a:off x="6309360" y="4983480"/>
            <a:ext cx="24685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send_all()/recv_all()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loop until full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payload transferred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17"/>
          <p:cNvSpPr/>
          <p:nvPr/>
        </p:nvSpPr>
        <p:spPr>
          <a:xfrm>
            <a:off x="9144000" y="3474720"/>
            <a:ext cx="2651400" cy="3017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Oval 18"/>
          <p:cNvSpPr/>
          <p:nvPr/>
        </p:nvSpPr>
        <p:spPr>
          <a:xfrm>
            <a:off x="10149840" y="3566160"/>
            <a:ext cx="639720" cy="6397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9"/>
          <p:cNvSpPr/>
          <p:nvPr/>
        </p:nvSpPr>
        <p:spPr>
          <a:xfrm>
            <a:off x="9144000" y="4206240"/>
            <a:ext cx="2651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LAN Binary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Transfer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0"/>
          <p:cNvSpPr/>
          <p:nvPr/>
        </p:nvSpPr>
        <p:spPr>
          <a:xfrm>
            <a:off x="9235440" y="4983480"/>
            <a:ext cx="24685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Only validated code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crosses the wire A→B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reliable &amp; secure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1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2"/>
          <p:cNvSpPr/>
          <p:nvPr/>
        </p:nvSpPr>
        <p:spPr>
          <a:xfrm>
            <a:off x="182880" y="6537960"/>
            <a:ext cx="1188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Binary Protocol  ·  Group 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5c5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0" y="10980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INTELLIGENT LOAD BALANCING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0" y="68580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/proc/stat Telemetry  —  Least CPU Utilization Policy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6" name="Picture 4" descr="dceg_load_balance.png"/>
          <p:cNvPicPr/>
          <p:nvPr/>
        </p:nvPicPr>
        <p:blipFill>
          <a:blip r:embed="rId1"/>
          <a:stretch/>
        </p:blipFill>
        <p:spPr>
          <a:xfrm>
            <a:off x="182880" y="1005840"/>
            <a:ext cx="7314840" cy="365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5" descr="dceg_proc_flow.png"/>
          <p:cNvPicPr/>
          <p:nvPr/>
        </p:nvPicPr>
        <p:blipFill>
          <a:blip r:embed="rId2"/>
          <a:stretch/>
        </p:blipFill>
        <p:spPr>
          <a:xfrm>
            <a:off x="7680960" y="1005840"/>
            <a:ext cx="429732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Rounded Rectangle 6"/>
          <p:cNvSpPr/>
          <p:nvPr/>
        </p:nvSpPr>
        <p:spPr>
          <a:xfrm>
            <a:off x="274320" y="4846320"/>
            <a:ext cx="5303160" cy="1691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7"/>
          <p:cNvSpPr/>
          <p:nvPr/>
        </p:nvSpPr>
        <p:spPr>
          <a:xfrm>
            <a:off x="457200" y="493776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✗  Round-Robin (Naïve)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8"/>
          <p:cNvSpPr/>
          <p:nvPr/>
        </p:nvSpPr>
        <p:spPr>
          <a:xfrm>
            <a:off x="548640" y="539496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9999"/>
                </a:solidFill>
                <a:effectLst/>
                <a:uFillTx/>
                <a:latin typeface="Calibri"/>
              </a:rPr>
              <a:t>✗  Blind assignment A→B→C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9"/>
          <p:cNvSpPr/>
          <p:nvPr/>
        </p:nvSpPr>
        <p:spPr>
          <a:xfrm>
            <a:off x="548640" y="574236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9999"/>
                </a:solidFill>
                <a:effectLst/>
                <a:uFillTx/>
                <a:latin typeface="Calibri"/>
              </a:rPr>
              <a:t>✗  Ignores actual machine load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0"/>
          <p:cNvSpPr/>
          <p:nvPr/>
        </p:nvSpPr>
        <p:spPr>
          <a:xfrm>
            <a:off x="548640" y="608976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9999"/>
                </a:solidFill>
                <a:effectLst/>
                <a:uFillTx/>
                <a:latin typeface="Calibri"/>
              </a:rPr>
              <a:t>✗  90% CPU node still gets routed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11"/>
          <p:cNvSpPr/>
          <p:nvPr/>
        </p:nvSpPr>
        <p:spPr>
          <a:xfrm>
            <a:off x="6400800" y="4846320"/>
            <a:ext cx="5486040" cy="1691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2"/>
          <p:cNvSpPr/>
          <p:nvPr/>
        </p:nvSpPr>
        <p:spPr>
          <a:xfrm>
            <a:off x="6583680" y="493776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  /proc/stat (Engineered)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3"/>
          <p:cNvSpPr/>
          <p:nvPr/>
        </p:nvSpPr>
        <p:spPr>
          <a:xfrm>
            <a:off x="6675120" y="539496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e7b7"/>
                </a:solidFill>
                <a:effectLst/>
                <a:uFillTx/>
                <a:latin typeface="Calibri"/>
              </a:rPr>
              <a:t>✓  Real CPU ticks → accurate 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4"/>
          <p:cNvSpPr/>
          <p:nvPr/>
        </p:nvSpPr>
        <p:spPr>
          <a:xfrm>
            <a:off x="6675120" y="574236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e7b7"/>
                </a:solidFill>
                <a:effectLst/>
                <a:uFillTx/>
                <a:latin typeface="Calibri"/>
              </a:rPr>
              <a:t>✓  Deterministic — no guesswork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5"/>
          <p:cNvSpPr/>
          <p:nvPr/>
        </p:nvSpPr>
        <p:spPr>
          <a:xfrm>
            <a:off x="6675120" y="608976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e7b7"/>
                </a:solidFill>
                <a:effectLst/>
                <a:uFillTx/>
                <a:latin typeface="Calibri"/>
              </a:rPr>
              <a:t>✓  Adapts as nodes join or leave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6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7"/>
          <p:cNvSpPr/>
          <p:nvPr/>
        </p:nvSpPr>
        <p:spPr>
          <a:xfrm>
            <a:off x="182880" y="6537960"/>
            <a:ext cx="1188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Load Balancing  ·  Group 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"/>
          <p:cNvSpPr/>
          <p:nvPr/>
        </p:nvSpPr>
        <p:spPr>
          <a:xfrm>
            <a:off x="0" y="10980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CONCURRENCY &amp; THREAD SAFETY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3"/>
          <p:cNvSpPr/>
          <p:nvPr/>
        </p:nvSpPr>
        <p:spPr>
          <a:xfrm>
            <a:off x="0" y="68580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server.c  —  POSIX Threads  |  Mutex Protection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3" name="Picture 4" descr="dceg_threads.png"/>
          <p:cNvPicPr/>
          <p:nvPr/>
        </p:nvPicPr>
        <p:blipFill>
          <a:blip r:embed="rId1"/>
          <a:stretch/>
        </p:blipFill>
        <p:spPr>
          <a:xfrm>
            <a:off x="182880" y="914400"/>
            <a:ext cx="7772040" cy="38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Rounded Rectangle 5"/>
          <p:cNvSpPr/>
          <p:nvPr/>
        </p:nvSpPr>
        <p:spPr>
          <a:xfrm>
            <a:off x="8229600" y="914400"/>
            <a:ext cx="3657240" cy="1325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6"/>
          <p:cNvSpPr/>
          <p:nvPr/>
        </p:nvSpPr>
        <p:spPr>
          <a:xfrm>
            <a:off x="8321040" y="960120"/>
            <a:ext cx="1371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pthread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create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7"/>
          <p:cNvSpPr/>
          <p:nvPr/>
        </p:nvSpPr>
        <p:spPr>
          <a:xfrm>
            <a:off x="9784080" y="1005840"/>
            <a:ext cx="20113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One thread per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accepted conn.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Never blocks.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8"/>
          <p:cNvSpPr/>
          <p:nvPr/>
        </p:nvSpPr>
        <p:spPr>
          <a:xfrm>
            <a:off x="8229600" y="2331720"/>
            <a:ext cx="3657240" cy="1325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9"/>
          <p:cNvSpPr/>
          <p:nvPr/>
        </p:nvSpPr>
        <p:spPr>
          <a:xfrm>
            <a:off x="8321040" y="2377440"/>
            <a:ext cx="1371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pthread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detach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0"/>
          <p:cNvSpPr/>
          <p:nvPr/>
        </p:nvSpPr>
        <p:spPr>
          <a:xfrm>
            <a:off x="9784080" y="2423160"/>
            <a:ext cx="20113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Auto-reclaim 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disconnect.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No zombies.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11"/>
          <p:cNvSpPr/>
          <p:nvPr/>
        </p:nvSpPr>
        <p:spPr>
          <a:xfrm>
            <a:off x="8229600" y="3749040"/>
            <a:ext cx="3657240" cy="1325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c51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12"/>
          <p:cNvSpPr/>
          <p:nvPr/>
        </p:nvSpPr>
        <p:spPr>
          <a:xfrm>
            <a:off x="8321040" y="3794760"/>
            <a:ext cx="1371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mutex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lock/unlock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3"/>
          <p:cNvSpPr/>
          <p:nvPr/>
        </p:nvSpPr>
        <p:spPr>
          <a:xfrm>
            <a:off x="9784080" y="3840480"/>
            <a:ext cx="20113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All clients[]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reads &amp; writes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protected.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14"/>
          <p:cNvSpPr/>
          <p:nvPr/>
        </p:nvSpPr>
        <p:spPr>
          <a:xfrm>
            <a:off x="8229600" y="5166360"/>
            <a:ext cx="3657240" cy="1325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5"/>
          <p:cNvSpPr/>
          <p:nvPr/>
        </p:nvSpPr>
        <p:spPr>
          <a:xfrm>
            <a:off x="8321040" y="5212080"/>
            <a:ext cx="1371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Stateless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Workers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6"/>
          <p:cNvSpPr/>
          <p:nvPr/>
        </p:nvSpPr>
        <p:spPr>
          <a:xfrm>
            <a:off x="9784080" y="5257800"/>
            <a:ext cx="20113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Zero past memory.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unlink() after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every job.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7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8"/>
          <p:cNvSpPr/>
          <p:nvPr/>
        </p:nvSpPr>
        <p:spPr>
          <a:xfrm>
            <a:off x="182880" y="6537960"/>
            <a:ext cx="1188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Concurrency &amp; Thread Safety  ·  Group 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"/>
          <p:cNvSpPr/>
          <p:nvPr/>
        </p:nvSpPr>
        <p:spPr>
          <a:xfrm>
            <a:off x="0" y="10980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END-TO-END JOB EXECUTION FLOW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3"/>
          <p:cNvSpPr/>
          <p:nvPr/>
        </p:nvSpPr>
        <p:spPr>
          <a:xfrm>
            <a:off x="0" y="68580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6-Step Pipeline:  Source Code  →  Distributed Result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Picture 4" descr="dceg_exec_flow.png"/>
          <p:cNvPicPr/>
          <p:nvPr/>
        </p:nvPicPr>
        <p:blipFill>
          <a:blip r:embed="rId1"/>
          <a:stretch/>
        </p:blipFill>
        <p:spPr>
          <a:xfrm>
            <a:off x="182880" y="986400"/>
            <a:ext cx="1179540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Rounded Rectangle 5"/>
          <p:cNvSpPr/>
          <p:nvPr/>
        </p:nvSpPr>
        <p:spPr>
          <a:xfrm>
            <a:off x="182880" y="3886200"/>
            <a:ext cx="1828440" cy="2651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6"/>
          <p:cNvSpPr/>
          <p:nvPr/>
        </p:nvSpPr>
        <p:spPr>
          <a:xfrm>
            <a:off x="228600" y="397764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1. COMPILE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7"/>
          <p:cNvSpPr/>
          <p:nvPr/>
        </p:nvSpPr>
        <p:spPr>
          <a:xfrm>
            <a:off x="228600" y="4462200"/>
            <a:ext cx="17370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GCC local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Syntax check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Zero bandwidth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8"/>
          <p:cNvSpPr/>
          <p:nvPr/>
        </p:nvSpPr>
        <p:spPr>
          <a:xfrm>
            <a:off x="2176200" y="3886200"/>
            <a:ext cx="1828440" cy="2651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9"/>
          <p:cNvSpPr/>
          <p:nvPr/>
        </p:nvSpPr>
        <p:spPr>
          <a:xfrm>
            <a:off x="2221920" y="397764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2. SERIALIZE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0"/>
          <p:cNvSpPr/>
          <p:nvPr/>
        </p:nvSpPr>
        <p:spPr>
          <a:xfrm>
            <a:off x="2221920" y="4462200"/>
            <a:ext cx="17370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MsgHeader frame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send_all()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Every byte sent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11"/>
          <p:cNvSpPr/>
          <p:nvPr/>
        </p:nvSpPr>
        <p:spPr>
          <a:xfrm>
            <a:off x="4169520" y="3886200"/>
            <a:ext cx="1828440" cy="2651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12"/>
          <p:cNvSpPr/>
          <p:nvPr/>
        </p:nvSpPr>
        <p:spPr>
          <a:xfrm>
            <a:off x="4215240" y="397764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3. ROUTE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3"/>
          <p:cNvSpPr/>
          <p:nvPr/>
        </p:nvSpPr>
        <p:spPr>
          <a:xfrm>
            <a:off x="4215240" y="4462200"/>
            <a:ext cx="17370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least_loaded()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/proc/stat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Best node chosen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14"/>
          <p:cNvSpPr/>
          <p:nvPr/>
        </p:nvSpPr>
        <p:spPr>
          <a:xfrm>
            <a:off x="6163200" y="3886200"/>
            <a:ext cx="1828440" cy="2651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15"/>
          <p:cNvSpPr/>
          <p:nvPr/>
        </p:nvSpPr>
        <p:spPr>
          <a:xfrm>
            <a:off x="6208920" y="397764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4. EXECUTE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6"/>
          <p:cNvSpPr/>
          <p:nvPr/>
        </p:nvSpPr>
        <p:spPr>
          <a:xfrm>
            <a:off x="6208920" y="4462200"/>
            <a:ext cx="17370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popen() fork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chmod 0755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/tmp/&lt;PID&gt;.out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17"/>
          <p:cNvSpPr/>
          <p:nvPr/>
        </p:nvSpPr>
        <p:spPr>
          <a:xfrm>
            <a:off x="8156520" y="3886200"/>
            <a:ext cx="1828440" cy="2651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c51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18"/>
          <p:cNvSpPr/>
          <p:nvPr/>
        </p:nvSpPr>
        <p:spPr>
          <a:xfrm>
            <a:off x="8202240" y="397764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5. RETURN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9"/>
          <p:cNvSpPr/>
          <p:nvPr/>
        </p:nvSpPr>
        <p:spPr>
          <a:xfrm>
            <a:off x="8202240" y="4462200"/>
            <a:ext cx="17370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stdout streamed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A←Server←B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unlink() cleanup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20"/>
          <p:cNvSpPr/>
          <p:nvPr/>
        </p:nvSpPr>
        <p:spPr>
          <a:xfrm>
            <a:off x="10149840" y="3886200"/>
            <a:ext cx="1828440" cy="2651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c48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1"/>
          <p:cNvSpPr/>
          <p:nvPr/>
        </p:nvSpPr>
        <p:spPr>
          <a:xfrm>
            <a:off x="10195560" y="397764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6. DISPLAY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2"/>
          <p:cNvSpPr/>
          <p:nvPr/>
        </p:nvSpPr>
        <p:spPr>
          <a:xfrm>
            <a:off x="10195560" y="4462200"/>
            <a:ext cx="17370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Web interface broadcasts the terminal directly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3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4"/>
          <p:cNvSpPr/>
          <p:nvPr/>
        </p:nvSpPr>
        <p:spPr>
          <a:xfrm>
            <a:off x="182880" y="6537960"/>
            <a:ext cx="1188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Execution Flow  ·  Group 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2"/>
          <p:cNvSpPr/>
          <p:nvPr/>
        </p:nvSpPr>
        <p:spPr>
          <a:xfrm>
            <a:off x="0" y="10980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LINUX SYSTEM FEATURES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0" y="68580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Linux APIs &amp; System Calls Leveraged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4"/>
          <p:cNvSpPr/>
          <p:nvPr/>
        </p:nvSpPr>
        <p:spPr>
          <a:xfrm>
            <a:off x="320040" y="1143000"/>
            <a:ext cx="3657240" cy="2377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Oval 5"/>
          <p:cNvSpPr/>
          <p:nvPr/>
        </p:nvSpPr>
        <p:spPr>
          <a:xfrm>
            <a:off x="1783080" y="1252800"/>
            <a:ext cx="712800" cy="71280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6"/>
          <p:cNvSpPr/>
          <p:nvPr/>
        </p:nvSpPr>
        <p:spPr>
          <a:xfrm>
            <a:off x="1783080" y="125280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7"/>
          <p:cNvSpPr/>
          <p:nvPr/>
        </p:nvSpPr>
        <p:spPr>
          <a:xfrm>
            <a:off x="365760" y="2011680"/>
            <a:ext cx="3565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Process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Management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8"/>
          <p:cNvSpPr/>
          <p:nvPr/>
        </p:nvSpPr>
        <p:spPr>
          <a:xfrm>
            <a:off x="411480" y="2606040"/>
            <a:ext cx="34743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getpid() hash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popen() fork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stdout pipe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Rounded Rectangle 9"/>
          <p:cNvSpPr/>
          <p:nvPr/>
        </p:nvSpPr>
        <p:spPr>
          <a:xfrm>
            <a:off x="4270320" y="1143000"/>
            <a:ext cx="3657240" cy="2377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Oval 10"/>
          <p:cNvSpPr/>
          <p:nvPr/>
        </p:nvSpPr>
        <p:spPr>
          <a:xfrm>
            <a:off x="5733360" y="1252800"/>
            <a:ext cx="712800" cy="712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11"/>
          <p:cNvSpPr/>
          <p:nvPr/>
        </p:nvSpPr>
        <p:spPr>
          <a:xfrm>
            <a:off x="5733360" y="125280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2"/>
          <p:cNvSpPr/>
          <p:nvPr/>
        </p:nvSpPr>
        <p:spPr>
          <a:xfrm>
            <a:off x="4316040" y="2011680"/>
            <a:ext cx="3565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Filesystem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&amp; IPC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3"/>
          <p:cNvSpPr/>
          <p:nvPr/>
        </p:nvSpPr>
        <p:spPr>
          <a:xfrm>
            <a:off x="4361760" y="2606040"/>
            <a:ext cx="34743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unlink() cleanup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PID-isolated /tmp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No inode exhaust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4"/>
          <p:cNvSpPr/>
          <p:nvPr/>
        </p:nvSpPr>
        <p:spPr>
          <a:xfrm>
            <a:off x="8220600" y="1143000"/>
            <a:ext cx="3657240" cy="2377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Oval 15"/>
          <p:cNvSpPr/>
          <p:nvPr/>
        </p:nvSpPr>
        <p:spPr>
          <a:xfrm>
            <a:off x="9683640" y="1252800"/>
            <a:ext cx="712800" cy="71280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9683640" y="125280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7"/>
          <p:cNvSpPr/>
          <p:nvPr/>
        </p:nvSpPr>
        <p:spPr>
          <a:xfrm>
            <a:off x="8266320" y="2011680"/>
            <a:ext cx="3565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Memory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Management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8"/>
          <p:cNvSpPr/>
          <p:nvPr/>
        </p:nvSpPr>
        <p:spPr>
          <a:xfrm>
            <a:off x="8312040" y="2606040"/>
            <a:ext cx="34743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fseek+ftell size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malloc() heap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'rb' binary mode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Rounded Rectangle 19"/>
          <p:cNvSpPr/>
          <p:nvPr/>
        </p:nvSpPr>
        <p:spPr>
          <a:xfrm>
            <a:off x="320040" y="3703320"/>
            <a:ext cx="3657240" cy="2377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Oval 20"/>
          <p:cNvSpPr/>
          <p:nvPr/>
        </p:nvSpPr>
        <p:spPr>
          <a:xfrm>
            <a:off x="1783080" y="3813120"/>
            <a:ext cx="712800" cy="712800"/>
          </a:xfrm>
          <a:prstGeom prst="ellipse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21"/>
          <p:cNvSpPr/>
          <p:nvPr/>
        </p:nvSpPr>
        <p:spPr>
          <a:xfrm>
            <a:off x="1783080" y="38131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2"/>
          <p:cNvSpPr/>
          <p:nvPr/>
        </p:nvSpPr>
        <p:spPr>
          <a:xfrm>
            <a:off x="365760" y="4572000"/>
            <a:ext cx="3565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Linux Kernel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Interface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23"/>
          <p:cNvSpPr/>
          <p:nvPr/>
        </p:nvSpPr>
        <p:spPr>
          <a:xfrm>
            <a:off x="411480" y="5166360"/>
            <a:ext cx="34743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/proc/stat ticks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Delta = real util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Bypasses avg()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24"/>
          <p:cNvSpPr/>
          <p:nvPr/>
        </p:nvSpPr>
        <p:spPr>
          <a:xfrm>
            <a:off x="4270320" y="3703320"/>
            <a:ext cx="3657240" cy="2377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5c51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Oval 25"/>
          <p:cNvSpPr/>
          <p:nvPr/>
        </p:nvSpPr>
        <p:spPr>
          <a:xfrm>
            <a:off x="5733360" y="3813120"/>
            <a:ext cx="712800" cy="712800"/>
          </a:xfrm>
          <a:prstGeom prst="ellipse">
            <a:avLst/>
          </a:prstGeom>
          <a:solidFill>
            <a:srgbClr val="f5c5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26"/>
          <p:cNvSpPr/>
          <p:nvPr/>
        </p:nvSpPr>
        <p:spPr>
          <a:xfrm>
            <a:off x="5733360" y="38131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7"/>
          <p:cNvSpPr/>
          <p:nvPr/>
        </p:nvSpPr>
        <p:spPr>
          <a:xfrm>
            <a:off x="4316040" y="4572000"/>
            <a:ext cx="3565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Distributed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Execution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8"/>
          <p:cNvSpPr/>
          <p:nvPr/>
        </p:nvSpPr>
        <p:spPr>
          <a:xfrm>
            <a:off x="4361760" y="5166360"/>
            <a:ext cx="34743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A compiles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S routes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B executes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29"/>
          <p:cNvSpPr/>
          <p:nvPr/>
        </p:nvSpPr>
        <p:spPr>
          <a:xfrm>
            <a:off x="8220600" y="3703320"/>
            <a:ext cx="3657240" cy="2377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ec48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Oval 30"/>
          <p:cNvSpPr/>
          <p:nvPr/>
        </p:nvSpPr>
        <p:spPr>
          <a:xfrm>
            <a:off x="9683640" y="3813120"/>
            <a:ext cx="712800" cy="712800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31"/>
          <p:cNvSpPr/>
          <p:nvPr/>
        </p:nvSpPr>
        <p:spPr>
          <a:xfrm>
            <a:off x="9683640" y="38131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32"/>
          <p:cNvSpPr/>
          <p:nvPr/>
        </p:nvSpPr>
        <p:spPr>
          <a:xfrm>
            <a:off x="8266320" y="4572000"/>
            <a:ext cx="3565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Build System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Makefile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33"/>
          <p:cNvSpPr/>
          <p:nvPr/>
        </p:nvSpPr>
        <p:spPr>
          <a:xfrm>
            <a:off x="8312040" y="5166360"/>
            <a:ext cx="34743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-O2 GCC opt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-Wall -Wextra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-pthread flag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34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35"/>
          <p:cNvSpPr/>
          <p:nvPr/>
        </p:nvSpPr>
        <p:spPr>
          <a:xfrm>
            <a:off x="182880" y="6537960"/>
            <a:ext cx="1188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Linux System Features  ·  Group 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2"/>
          <p:cNvSpPr/>
          <p:nvPr/>
        </p:nvSpPr>
        <p:spPr>
          <a:xfrm>
            <a:off x="0" y="10980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 OBSERVABILITY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3"/>
          <p:cNvSpPr/>
          <p:nvPr/>
        </p:nvSpPr>
        <p:spPr>
          <a:xfrm>
            <a:off x="0" y="68580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Color-coded ANSI State Machine  —  3 Phases of Proof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4"/>
          <p:cNvSpPr/>
          <p:nvPr/>
        </p:nvSpPr>
        <p:spPr>
          <a:xfrm>
            <a:off x="365760" y="1143000"/>
            <a:ext cx="3565800" cy="2285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5"/>
          <p:cNvSpPr/>
          <p:nvPr/>
        </p:nvSpPr>
        <p:spPr>
          <a:xfrm>
            <a:off x="365760" y="123444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[1/3]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6"/>
          <p:cNvSpPr/>
          <p:nvPr/>
        </p:nvSpPr>
        <p:spPr>
          <a:xfrm>
            <a:off x="365760" y="171900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COMPILATION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7"/>
          <p:cNvSpPr/>
          <p:nvPr/>
        </p:nvSpPr>
        <p:spPr>
          <a:xfrm>
            <a:off x="457200" y="2258640"/>
            <a:ext cx="3382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GCC compile on 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Errors caught instantly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Zero network wasted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4" name="Connector 8"/>
          <p:cNvCxnSpPr/>
          <p:nvPr/>
        </p:nvCxnSpPr>
        <p:spPr>
          <a:xfrm>
            <a:off x="3931920" y="2286000"/>
            <a:ext cx="366120" cy="360"/>
          </a:xfrm>
          <a:prstGeom prst="straightConnector1">
            <a:avLst/>
          </a:prstGeom>
          <a:ln w="19050">
            <a:solidFill>
              <a:srgbClr val="a0aec0"/>
            </a:solidFill>
            <a:round/>
          </a:ln>
        </p:spPr>
      </p:cxnSp>
      <p:sp>
        <p:nvSpPr>
          <p:cNvPr id="295" name="Rounded Rectangle 9"/>
          <p:cNvSpPr/>
          <p:nvPr/>
        </p:nvSpPr>
        <p:spPr>
          <a:xfrm>
            <a:off x="4297680" y="1143000"/>
            <a:ext cx="3565800" cy="2285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10"/>
          <p:cNvSpPr/>
          <p:nvPr/>
        </p:nvSpPr>
        <p:spPr>
          <a:xfrm>
            <a:off x="4297680" y="123444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[2/3]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11"/>
          <p:cNvSpPr/>
          <p:nvPr/>
        </p:nvSpPr>
        <p:spPr>
          <a:xfrm>
            <a:off x="4297680" y="171900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NETWORK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2"/>
          <p:cNvSpPr/>
          <p:nvPr/>
        </p:nvSpPr>
        <p:spPr>
          <a:xfrm>
            <a:off x="4389120" y="2258640"/>
            <a:ext cx="3382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Binary serialized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TCP transfer A→B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Progress real-time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9" name="Connector 13"/>
          <p:cNvCxnSpPr/>
          <p:nvPr/>
        </p:nvCxnSpPr>
        <p:spPr>
          <a:xfrm>
            <a:off x="7863840" y="2286000"/>
            <a:ext cx="366120" cy="360"/>
          </a:xfrm>
          <a:prstGeom prst="straightConnector1">
            <a:avLst/>
          </a:prstGeom>
          <a:ln w="19050">
            <a:solidFill>
              <a:srgbClr val="a0aec0"/>
            </a:solidFill>
            <a:round/>
          </a:ln>
        </p:spPr>
      </p:cxnSp>
      <p:sp>
        <p:nvSpPr>
          <p:cNvPr id="300" name="Rounded Rectangle 14"/>
          <p:cNvSpPr/>
          <p:nvPr/>
        </p:nvSpPr>
        <p:spPr>
          <a:xfrm>
            <a:off x="8229600" y="1143000"/>
            <a:ext cx="3565800" cy="2285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15"/>
          <p:cNvSpPr/>
          <p:nvPr/>
        </p:nvSpPr>
        <p:spPr>
          <a:xfrm>
            <a:off x="8229600" y="123444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[3/3]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16"/>
          <p:cNvSpPr/>
          <p:nvPr/>
        </p:nvSpPr>
        <p:spPr>
          <a:xfrm>
            <a:off x="8229600" y="171900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EXECUTION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7"/>
          <p:cNvSpPr/>
          <p:nvPr/>
        </p:nvSpPr>
        <p:spPr>
          <a:xfrm>
            <a:off x="8321040" y="2258640"/>
            <a:ext cx="3382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Remote exec Machine B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stdout/stderr captured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Unlink() cleanup done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18"/>
          <p:cNvSpPr/>
          <p:nvPr/>
        </p:nvSpPr>
        <p:spPr>
          <a:xfrm>
            <a:off x="365760" y="3611880"/>
            <a:ext cx="11429640" cy="25599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a0ae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19"/>
          <p:cNvSpPr/>
          <p:nvPr/>
        </p:nvSpPr>
        <p:spPr>
          <a:xfrm>
            <a:off x="502920" y="367596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● ● ●    DCEG Terminal — Machine 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20"/>
          <p:cNvSpPr/>
          <p:nvPr/>
        </p:nvSpPr>
        <p:spPr>
          <a:xfrm>
            <a:off x="548640" y="404172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[1/3] Compiling hello_world.c ...  OK  (16008 bytes binary)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21"/>
          <p:cNvSpPr/>
          <p:nvPr/>
        </p:nvSpPr>
        <p:spPr>
          <a:xfrm>
            <a:off x="548640" y="433440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[2/3] Sending binary to server via TCP ...  MsgHeader + payload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22"/>
          <p:cNvSpPr/>
          <p:nvPr/>
        </p:nvSpPr>
        <p:spPr>
          <a:xfrm>
            <a:off x="548640" y="462672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      &gt;&gt; Node 0: 8.7%  |  Node 1: 8.3%  |  Node 2: disconnected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3"/>
          <p:cNvSpPr/>
          <p:nvPr/>
        </p:nvSpPr>
        <p:spPr>
          <a:xfrm>
            <a:off x="548640" y="491940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      &gt;&gt; Selected: Node 1 (8.3% CPU)  -- Least Loaded Policy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24"/>
          <p:cNvSpPr/>
          <p:nvPr/>
        </p:nvSpPr>
        <p:spPr>
          <a:xfrm>
            <a:off x="548640" y="521208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[3/3] Executing on Machine B (Client 1) ...  result received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25"/>
          <p:cNvSpPr/>
          <p:nvPr/>
        </p:nvSpPr>
        <p:spPr>
          <a:xfrm>
            <a:off x="548640" y="5504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  +------ REMOTE OUTPUT ------+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26"/>
          <p:cNvSpPr/>
          <p:nvPr/>
        </p:nvSpPr>
        <p:spPr>
          <a:xfrm>
            <a:off x="548640" y="579744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  |  Hello, Distributed World! |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Rounded Rectangle 27"/>
          <p:cNvSpPr/>
          <p:nvPr/>
        </p:nvSpPr>
        <p:spPr>
          <a:xfrm>
            <a:off x="365760" y="6263640"/>
            <a:ext cx="11429640" cy="365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28"/>
          <p:cNvSpPr/>
          <p:nvPr/>
        </p:nvSpPr>
        <p:spPr>
          <a:xfrm>
            <a:off x="457200" y="62636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  Least CPU Utilization working correctly  —  Dynamic node selection proved in live demo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29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2"/>
          <p:cNvSpPr/>
          <p:nvPr/>
        </p:nvSpPr>
        <p:spPr>
          <a:xfrm>
            <a:off x="0" y="10980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PERFORMANCE PROFILE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3"/>
          <p:cNvSpPr/>
          <p:nvPr/>
        </p:nvSpPr>
        <p:spPr>
          <a:xfrm>
            <a:off x="0" y="68580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Grid vs Single Machine  —  Key Metrics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9" name="Picture 4" descr="dceg_radar.png"/>
          <p:cNvPicPr/>
          <p:nvPr/>
        </p:nvPicPr>
        <p:blipFill>
          <a:blip r:embed="rId1"/>
          <a:stretch/>
        </p:blipFill>
        <p:spPr>
          <a:xfrm>
            <a:off x="182880" y="914400"/>
            <a:ext cx="5303160" cy="53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Box 5"/>
          <p:cNvSpPr/>
          <p:nvPr/>
        </p:nvSpPr>
        <p:spPr>
          <a:xfrm>
            <a:off x="5943600" y="1005840"/>
            <a:ext cx="585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METRICS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ounded Rectangle 6"/>
          <p:cNvSpPr/>
          <p:nvPr/>
        </p:nvSpPr>
        <p:spPr>
          <a:xfrm>
            <a:off x="5943600" y="1554480"/>
            <a:ext cx="5851800" cy="594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7"/>
          <p:cNvSpPr/>
          <p:nvPr/>
        </p:nvSpPr>
        <p:spPr>
          <a:xfrm>
            <a:off x="6080760" y="16275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Local CPU (without)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8"/>
          <p:cNvSpPr/>
          <p:nvPr/>
        </p:nvSpPr>
        <p:spPr>
          <a:xfrm>
            <a:off x="9875520" y="16275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100%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9"/>
          <p:cNvSpPr/>
          <p:nvPr/>
        </p:nvSpPr>
        <p:spPr>
          <a:xfrm>
            <a:off x="5943600" y="2240280"/>
            <a:ext cx="5851800" cy="594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10"/>
          <p:cNvSpPr/>
          <p:nvPr/>
        </p:nvSpPr>
        <p:spPr>
          <a:xfrm>
            <a:off x="6080760" y="23133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Local CPU (with grid)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11"/>
          <p:cNvSpPr/>
          <p:nvPr/>
        </p:nvSpPr>
        <p:spPr>
          <a:xfrm>
            <a:off x="9875520" y="23133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22%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12"/>
          <p:cNvSpPr/>
          <p:nvPr/>
        </p:nvSpPr>
        <p:spPr>
          <a:xfrm>
            <a:off x="5943600" y="2926080"/>
            <a:ext cx="5851800" cy="594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13"/>
          <p:cNvSpPr/>
          <p:nvPr/>
        </p:nvSpPr>
        <p:spPr>
          <a:xfrm>
            <a:off x="6080760" y="29991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Worker nodes (Lab 1)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14"/>
          <p:cNvSpPr/>
          <p:nvPr/>
        </p:nvSpPr>
        <p:spPr>
          <a:xfrm>
            <a:off x="9875520" y="299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60%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Rounded Rectangle 15"/>
          <p:cNvSpPr/>
          <p:nvPr/>
        </p:nvSpPr>
        <p:spPr>
          <a:xfrm>
            <a:off x="5943600" y="3611880"/>
            <a:ext cx="5851800" cy="594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16"/>
          <p:cNvSpPr/>
          <p:nvPr/>
        </p:nvSpPr>
        <p:spPr>
          <a:xfrm>
            <a:off x="6080760" y="36849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Worker nodes (Lab 2)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17"/>
          <p:cNvSpPr/>
          <p:nvPr/>
        </p:nvSpPr>
        <p:spPr>
          <a:xfrm>
            <a:off x="9875520" y="36849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45%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Rounded Rectangle 18"/>
          <p:cNvSpPr/>
          <p:nvPr/>
        </p:nvSpPr>
        <p:spPr>
          <a:xfrm>
            <a:off x="5943600" y="4297680"/>
            <a:ext cx="5851800" cy="594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19"/>
          <p:cNvSpPr/>
          <p:nvPr/>
        </p:nvSpPr>
        <p:spPr>
          <a:xfrm>
            <a:off x="6080760" y="43707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Worker nodes (Lab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20"/>
          <p:cNvSpPr/>
          <p:nvPr/>
        </p:nvSpPr>
        <p:spPr>
          <a:xfrm>
            <a:off x="9875520" y="43707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55%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Rounded Rectangle 21"/>
          <p:cNvSpPr/>
          <p:nvPr/>
        </p:nvSpPr>
        <p:spPr>
          <a:xfrm>
            <a:off x="5943600" y="4983480"/>
            <a:ext cx="5851800" cy="594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c51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22"/>
          <p:cNvSpPr/>
          <p:nvPr/>
        </p:nvSpPr>
        <p:spPr>
          <a:xfrm>
            <a:off x="6080760" y="50565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TCP transfer overhead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23"/>
          <p:cNvSpPr/>
          <p:nvPr/>
        </p:nvSpPr>
        <p:spPr>
          <a:xfrm>
            <a:off x="9875520" y="50565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~0ms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Rounded Rectangle 24"/>
          <p:cNvSpPr/>
          <p:nvPr/>
        </p:nvSpPr>
        <p:spPr>
          <a:xfrm>
            <a:off x="5943600" y="5669280"/>
            <a:ext cx="5851800" cy="594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25"/>
          <p:cNvSpPr/>
          <p:nvPr/>
        </p:nvSpPr>
        <p:spPr>
          <a:xfrm>
            <a:off x="6080760" y="57423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Max worker scalability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26"/>
          <p:cNvSpPr/>
          <p:nvPr/>
        </p:nvSpPr>
        <p:spPr>
          <a:xfrm>
            <a:off x="9875520" y="57423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100+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27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28"/>
          <p:cNvSpPr/>
          <p:nvPr/>
        </p:nvSpPr>
        <p:spPr>
          <a:xfrm>
            <a:off x="182880" y="6537960"/>
            <a:ext cx="1188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Performance Profile  ·  Group 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2"/>
          <p:cNvSpPr/>
          <p:nvPr/>
        </p:nvSpPr>
        <p:spPr>
          <a:xfrm>
            <a:off x="0" y="10980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DESIGN PRINCIPLES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3"/>
          <p:cNvSpPr/>
          <p:nvPr/>
        </p:nvSpPr>
        <p:spPr>
          <a:xfrm>
            <a:off x="0" y="68580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What Makes DCEG Different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4"/>
          <p:cNvSpPr/>
          <p:nvPr/>
        </p:nvSpPr>
        <p:spPr>
          <a:xfrm>
            <a:off x="320040" y="1143000"/>
            <a:ext cx="3657240" cy="2422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Oval 5"/>
          <p:cNvSpPr/>
          <p:nvPr/>
        </p:nvSpPr>
        <p:spPr>
          <a:xfrm>
            <a:off x="1783080" y="1234440"/>
            <a:ext cx="712800" cy="712800"/>
          </a:xfrm>
          <a:prstGeom prst="ellipse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6"/>
          <p:cNvSpPr/>
          <p:nvPr/>
        </p:nvSpPr>
        <p:spPr>
          <a:xfrm>
            <a:off x="1783080" y="12344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7"/>
          <p:cNvSpPr/>
          <p:nvPr/>
        </p:nvSpPr>
        <p:spPr>
          <a:xfrm>
            <a:off x="365760" y="201168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LAN as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Supercomputer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8"/>
          <p:cNvSpPr/>
          <p:nvPr/>
        </p:nvSpPr>
        <p:spPr>
          <a:xfrm>
            <a:off x="411480" y="262440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Entire LAN abstracted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as one compute unit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transparent to user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Rounded Rectangle 9"/>
          <p:cNvSpPr/>
          <p:nvPr/>
        </p:nvSpPr>
        <p:spPr>
          <a:xfrm>
            <a:off x="4270320" y="1143000"/>
            <a:ext cx="3657240" cy="2422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Oval 10"/>
          <p:cNvSpPr/>
          <p:nvPr/>
        </p:nvSpPr>
        <p:spPr>
          <a:xfrm>
            <a:off x="5733360" y="1234440"/>
            <a:ext cx="712800" cy="71280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11"/>
          <p:cNvSpPr/>
          <p:nvPr/>
        </p:nvSpPr>
        <p:spPr>
          <a:xfrm>
            <a:off x="5733360" y="12344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2"/>
          <p:cNvSpPr/>
          <p:nvPr/>
        </p:nvSpPr>
        <p:spPr>
          <a:xfrm>
            <a:off x="4316040" y="201168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Decoupled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3-Tier Design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3"/>
          <p:cNvSpPr/>
          <p:nvPr/>
        </p:nvSpPr>
        <p:spPr>
          <a:xfrm>
            <a:off x="4361760" y="262440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A(compile)+S(route)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+B(execute)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clean separation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14"/>
          <p:cNvSpPr/>
          <p:nvPr/>
        </p:nvSpPr>
        <p:spPr>
          <a:xfrm>
            <a:off x="8220600" y="1143000"/>
            <a:ext cx="3657240" cy="2422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Oval 15"/>
          <p:cNvSpPr/>
          <p:nvPr/>
        </p:nvSpPr>
        <p:spPr>
          <a:xfrm>
            <a:off x="9683640" y="1234440"/>
            <a:ext cx="712800" cy="712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16"/>
          <p:cNvSpPr/>
          <p:nvPr/>
        </p:nvSpPr>
        <p:spPr>
          <a:xfrm>
            <a:off x="9683640" y="12344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17"/>
          <p:cNvSpPr/>
          <p:nvPr/>
        </p:nvSpPr>
        <p:spPr>
          <a:xfrm>
            <a:off x="8266320" y="201168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Least CPU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Policy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8"/>
          <p:cNvSpPr/>
          <p:nvPr/>
        </p:nvSpPr>
        <p:spPr>
          <a:xfrm>
            <a:off x="8312040" y="262440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Real-time /proc/stat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deterministic routing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least-loaded node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19"/>
          <p:cNvSpPr/>
          <p:nvPr/>
        </p:nvSpPr>
        <p:spPr>
          <a:xfrm>
            <a:off x="320040" y="3749040"/>
            <a:ext cx="3657240" cy="2422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Oval 20"/>
          <p:cNvSpPr/>
          <p:nvPr/>
        </p:nvSpPr>
        <p:spPr>
          <a:xfrm>
            <a:off x="1783080" y="3840480"/>
            <a:ext cx="712800" cy="71280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21"/>
          <p:cNvSpPr/>
          <p:nvPr/>
        </p:nvSpPr>
        <p:spPr>
          <a:xfrm>
            <a:off x="1783080" y="384048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2"/>
          <p:cNvSpPr/>
          <p:nvPr/>
        </p:nvSpPr>
        <p:spPr>
          <a:xfrm>
            <a:off x="365760" y="461772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Thread-Safe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Concurrent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23"/>
          <p:cNvSpPr/>
          <p:nvPr/>
        </p:nvSpPr>
        <p:spPr>
          <a:xfrm>
            <a:off x="411480" y="523044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Detached pthreads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+ mutex protection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zero race conditions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Rounded Rectangle 24"/>
          <p:cNvSpPr/>
          <p:nvPr/>
        </p:nvSpPr>
        <p:spPr>
          <a:xfrm>
            <a:off x="4270320" y="3749040"/>
            <a:ext cx="3657240" cy="2422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5c51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Oval 25"/>
          <p:cNvSpPr/>
          <p:nvPr/>
        </p:nvSpPr>
        <p:spPr>
          <a:xfrm>
            <a:off x="5733360" y="3840480"/>
            <a:ext cx="712800" cy="712800"/>
          </a:xfrm>
          <a:prstGeom prst="ellipse">
            <a:avLst/>
          </a:prstGeom>
          <a:solidFill>
            <a:srgbClr val="f5c5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26"/>
          <p:cNvSpPr/>
          <p:nvPr/>
        </p:nvSpPr>
        <p:spPr>
          <a:xfrm>
            <a:off x="5733360" y="384048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27"/>
          <p:cNvSpPr/>
          <p:nvPr/>
        </p:nvSpPr>
        <p:spPr>
          <a:xfrm>
            <a:off x="4316040" y="461772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Stateless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Zero-Footprint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28"/>
          <p:cNvSpPr/>
          <p:nvPr/>
        </p:nvSpPr>
        <p:spPr>
          <a:xfrm>
            <a:off x="4361760" y="523044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PID hash + unlink()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+ /tmp isolation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infinite worker nodes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Rounded Rectangle 29"/>
          <p:cNvSpPr/>
          <p:nvPr/>
        </p:nvSpPr>
        <p:spPr>
          <a:xfrm>
            <a:off x="8220600" y="3749040"/>
            <a:ext cx="3657240" cy="2422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ec48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Oval 30"/>
          <p:cNvSpPr/>
          <p:nvPr/>
        </p:nvSpPr>
        <p:spPr>
          <a:xfrm>
            <a:off x="9683640" y="3840480"/>
            <a:ext cx="712800" cy="712800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31"/>
          <p:cNvSpPr/>
          <p:nvPr/>
        </p:nvSpPr>
        <p:spPr>
          <a:xfrm>
            <a:off x="9683640" y="384048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32"/>
          <p:cNvSpPr/>
          <p:nvPr/>
        </p:nvSpPr>
        <p:spPr>
          <a:xfrm>
            <a:off x="8266320" y="461772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CLI Proves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It Works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33"/>
          <p:cNvSpPr/>
          <p:nvPr/>
        </p:nvSpPr>
        <p:spPr>
          <a:xfrm>
            <a:off x="8312040" y="523044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ANSI state machine UI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shows load balancing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visually in demo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34"/>
          <p:cNvSpPr/>
          <p:nvPr/>
        </p:nvSpPr>
        <p:spPr>
          <a:xfrm>
            <a:off x="10515600" y="914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GROUP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35"/>
          <p:cNvSpPr/>
          <p:nvPr/>
        </p:nvSpPr>
        <p:spPr>
          <a:xfrm>
            <a:off x="182880" y="6537960"/>
            <a:ext cx="1188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Key Design Principles  ·  Group 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2"/>
          <p:cNvSpPr/>
          <p:nvPr/>
        </p:nvSpPr>
        <p:spPr>
          <a:xfrm>
            <a:off x="0" y="1280160"/>
            <a:ext cx="121914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THANK YOU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3"/>
          <p:cNvSpPr/>
          <p:nvPr/>
        </p:nvSpPr>
        <p:spPr>
          <a:xfrm>
            <a:off x="0" y="2606040"/>
            <a:ext cx="1219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Distributed Code Execution Grid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4"/>
          <p:cNvSpPr/>
          <p:nvPr/>
        </p:nvSpPr>
        <p:spPr>
          <a:xfrm>
            <a:off x="0" y="3154680"/>
            <a:ext cx="1219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Questions &amp; Discussion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Rectangle 5"/>
          <p:cNvSpPr/>
          <p:nvPr/>
        </p:nvSpPr>
        <p:spPr>
          <a:xfrm>
            <a:off x="1371600" y="3657600"/>
            <a:ext cx="9417960" cy="27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Rounded Rectangle 6"/>
          <p:cNvSpPr/>
          <p:nvPr/>
        </p:nvSpPr>
        <p:spPr>
          <a:xfrm>
            <a:off x="365760" y="3840480"/>
            <a:ext cx="182844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7"/>
          <p:cNvSpPr/>
          <p:nvPr/>
        </p:nvSpPr>
        <p:spPr>
          <a:xfrm>
            <a:off x="365760" y="38404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C Language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Rounded Rectangle 8"/>
          <p:cNvSpPr/>
          <p:nvPr/>
        </p:nvSpPr>
        <p:spPr>
          <a:xfrm>
            <a:off x="2286000" y="3840480"/>
            <a:ext cx="182844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9"/>
          <p:cNvSpPr/>
          <p:nvPr/>
        </p:nvSpPr>
        <p:spPr>
          <a:xfrm>
            <a:off x="2286000" y="38404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POSIX Threads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Rounded Rectangle 10"/>
          <p:cNvSpPr/>
          <p:nvPr/>
        </p:nvSpPr>
        <p:spPr>
          <a:xfrm>
            <a:off x="4206240" y="3840480"/>
            <a:ext cx="182844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11"/>
          <p:cNvSpPr/>
          <p:nvPr/>
        </p:nvSpPr>
        <p:spPr>
          <a:xfrm>
            <a:off x="4206240" y="38404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TCP Sockets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Rounded Rectangle 12"/>
          <p:cNvSpPr/>
          <p:nvPr/>
        </p:nvSpPr>
        <p:spPr>
          <a:xfrm>
            <a:off x="6126480" y="3840480"/>
            <a:ext cx="182844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13"/>
          <p:cNvSpPr/>
          <p:nvPr/>
        </p:nvSpPr>
        <p:spPr>
          <a:xfrm>
            <a:off x="6126480" y="38404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Linux /proc/stat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Rounded Rectangle 14"/>
          <p:cNvSpPr/>
          <p:nvPr/>
        </p:nvSpPr>
        <p:spPr>
          <a:xfrm>
            <a:off x="8046720" y="3840480"/>
            <a:ext cx="182844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c51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15"/>
          <p:cNvSpPr/>
          <p:nvPr/>
        </p:nvSpPr>
        <p:spPr>
          <a:xfrm>
            <a:off x="8046720" y="38404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c518"/>
                </a:solidFill>
                <a:effectLst/>
                <a:uFillTx/>
                <a:latin typeface="Calibri"/>
              </a:rPr>
              <a:t>GCC -O2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Rounded Rectangle 16"/>
          <p:cNvSpPr/>
          <p:nvPr/>
        </p:nvSpPr>
        <p:spPr>
          <a:xfrm>
            <a:off x="9966960" y="3840480"/>
            <a:ext cx="1828440" cy="456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c48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17"/>
          <p:cNvSpPr/>
          <p:nvPr/>
        </p:nvSpPr>
        <p:spPr>
          <a:xfrm>
            <a:off x="9966960" y="38404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Makefile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35"/>
          <p:cNvSpPr/>
          <p:nvPr/>
        </p:nvSpPr>
        <p:spPr>
          <a:xfrm>
            <a:off x="0" y="630936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0aec0"/>
                </a:solidFill>
                <a:effectLst/>
                <a:uFillTx/>
                <a:latin typeface="Calibri"/>
              </a:rPr>
              <a:t>GROUP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36"/>
          <p:cNvSpPr/>
          <p:nvPr/>
        </p:nvSpPr>
        <p:spPr>
          <a:xfrm>
            <a:off x="0" y="6583680"/>
            <a:ext cx="1219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6070"/>
                </a:solidFill>
                <a:effectLst/>
                <a:uFillTx/>
                <a:latin typeface="Calibri"/>
              </a:rPr>
              <a:t>Built in C  |  POSIX Threads  |  TCP Sockets  |  Linux /proc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random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LibreOffice/25.8.5.2$Linux_X86_64 LibreOffice_project/580$Build-2</Application>
  <AppVersion>15.0000</AppVersion>
  <Words>1408</Words>
  <Paragraphs>256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subhadeep kumbhakar</dc:creator>
  <dc:description>generated using python-pptx</dc:description>
  <dc:language>en-US</dc:language>
  <cp:lastModifiedBy/>
  <dcterms:modified xsi:type="dcterms:W3CDTF">2026-04-11T08:16:08Z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15</vt:i4>
  </property>
</Properties>
</file>